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SharkSight. Good product decisions need solid evidence. So we built a broad knowledge base from thousands of raw data points: customer voices, BMW's own data and cited web research. The AI structures it, and the product manager decides what the next BMW must deliver.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Atahan, and this is team Zimbabwe. The rest of the team was last seen at kickoff.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product manager faces thousands of customer comments, customer studies, sales and option lists, and a market that changes every month. Customers in the US, Europe and China want different things. These decisions live for years, so every one of them has to stay traceable. Our app moves from evidence to structure to definition, and the PM decides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every source lives in one space: what customers say, BMW's own data, and cited research from the world, each with a source, a date and a trust level. And it is live: new data keeps flowing in, every update builds on the last, and you always see what changed. We are also honest about data: when internal figures conflict with public ones, we show the conflict instead of hiding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AI reads everything. It classifies comments, studies and research into one shared language, clusters them into customer needs, and links each need to the world: what supports it, what contradicts it, and where rivals compete. The result is a set of requirement areas. New data only counts as a trend if it is statistically real, and defects go to Quality, not into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answer BMW's question: "Range: 600 or 700 miles?" Each area becomes measurable requirements. Each one gets a metric the customer actually feels and a target ladder for each car and market: today's BMW, rival parity, a target projected to launch, and a stretch goal. Every number is marked as cited, projected, an assumption or a gap, and the AI never invents one. The AI recommends a rung, and the PM picks it. Requirements are linked like the roof of a House of Quality. For example, range and agility compete through mass. And all of it sits on the 3D car.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only proposes; a named person decides, and every decision needs a reason. Every requirement traces back to its evidence. Nothing is overwritten, every decision is audited, and every model call is logged with its cost.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is a product brain that keeps learning across every car line and market. Next comes prioritization per market, where linked requirements are bundled and conflicts are decided together. Let me show you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1 / 8</a:t>
            </a:r>
          </a:p>
        </p:txBody>
      </p:sp>
      <p:sp>
        <p:nvSpPr>
          <p:cNvPr id="4" name="Rectangle 3"/>
          <p:cNvSpPr/>
          <p:nvPr/>
        </p:nvSpPr>
        <p:spPr>
          <a:xfrm>
            <a:off x="0" y="6832600"/>
            <a:ext cx="1524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685800" y="1234440"/>
            <a:ext cx="1188720" cy="1188720"/>
          </a:xfrm>
          <a:prstGeom prst="rect">
            <a:avLst/>
          </a:prstGeom>
        </p:spPr>
      </p:pic>
      <p:sp>
        <p:nvSpPr>
          <p:cNvPr id="6" name="TextBox 5"/>
          <p:cNvSpPr txBox="1"/>
          <p:nvPr/>
        </p:nvSpPr>
        <p:spPr>
          <a:xfrm>
            <a:off x="2011680" y="1325880"/>
            <a:ext cx="10546080" cy="1097280"/>
          </a:xfrm>
          <a:prstGeom prst="rect">
            <a:avLst/>
          </a:prstGeom>
          <a:noFill/>
        </p:spPr>
        <p:txBody>
          <a:bodyPr wrap="square" anchor="t" lIns="0" rIns="0" tIns="0" bIns="0">
            <a:spAutoFit/>
          </a:bodyPr>
          <a:lstStyle/>
          <a:p>
            <a:pPr algn="l"/>
            <a:r>
              <a:rPr sz="8000" b="0">
                <a:solidFill>
                  <a:srgbClr val="F2F4F7"/>
                </a:solidFill>
                <a:latin typeface="Helvetica Neue Light"/>
              </a:rPr>
              <a:t>SharkSight</a:t>
            </a:r>
          </a:p>
        </p:txBody>
      </p:sp>
      <p:sp>
        <p:nvSpPr>
          <p:cNvPr id="7" name="TextBox 6"/>
          <p:cNvSpPr txBox="1"/>
          <p:nvPr/>
        </p:nvSpPr>
        <p:spPr>
          <a:xfrm>
            <a:off x="822960" y="2697480"/>
            <a:ext cx="10546080" cy="1463040"/>
          </a:xfrm>
          <a:prstGeom prst="rect">
            <a:avLst/>
          </a:prstGeom>
          <a:noFill/>
        </p:spPr>
        <p:txBody>
          <a:bodyPr wrap="square" anchor="t" lIns="0" rIns="0" tIns="0" bIns="0">
            <a:spAutoFit/>
          </a:bodyPr>
          <a:lstStyle/>
          <a:p>
            <a:pPr algn="l"/>
            <a:r>
              <a:rPr sz="4000" b="0">
                <a:solidFill>
                  <a:srgbClr val="F2F4F7"/>
                </a:solidFill>
                <a:latin typeface="Helvetica Neue"/>
              </a:rPr>
              <a:t>Solid evidence.</a:t>
            </a:r>
          </a:p>
          <a:p>
            <a:pPr algn="l"/>
            <a:r>
              <a:rPr sz="4000" b="0">
                <a:solidFill>
                  <a:srgbClr val="F2F4F7"/>
                </a:solidFill>
                <a:latin typeface="Helvetica Neue"/>
              </a:rPr>
              <a:t>Sound decisions.</a:t>
            </a:r>
          </a:p>
        </p:txBody>
      </p:sp>
      <p:sp>
        <p:nvSpPr>
          <p:cNvPr id="8" name="TextBox 7"/>
          <p:cNvSpPr txBox="1"/>
          <p:nvPr/>
        </p:nvSpPr>
        <p:spPr>
          <a:xfrm>
            <a:off x="822960" y="4343400"/>
            <a:ext cx="7382255" cy="914400"/>
          </a:xfrm>
          <a:prstGeom prst="rect">
            <a:avLst/>
          </a:prstGeom>
          <a:noFill/>
        </p:spPr>
        <p:txBody>
          <a:bodyPr wrap="square" anchor="t" lIns="0" rIns="0" tIns="0" bIns="0">
            <a:spAutoFit/>
          </a:bodyPr>
          <a:lstStyle/>
          <a:p>
            <a:pPr algn="l"/>
            <a:r>
              <a:rPr sz="2000" b="0">
                <a:solidFill>
                  <a:srgbClr val="B4BAC4"/>
                </a:solidFill>
                <a:latin typeface="Helvetica Neue"/>
              </a:rPr>
              <a:t>A broad knowledge base built from thousands of raw data points. The AI structures it. The PM decides what the next BMW must deliver.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2 / 8</a:t>
            </a:r>
          </a:p>
        </p:txBody>
      </p:sp>
      <p:sp>
        <p:nvSpPr>
          <p:cNvPr id="4" name="Rectangle 3"/>
          <p:cNvSpPr/>
          <p:nvPr/>
        </p:nvSpPr>
        <p:spPr>
          <a:xfrm>
            <a:off x="0" y="6832600"/>
            <a:ext cx="3048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82296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THE TEAM</a:t>
            </a:r>
          </a:p>
        </p:txBody>
      </p:sp>
      <p:sp>
        <p:nvSpPr>
          <p:cNvPr id="6" name="TextBox 5"/>
          <p:cNvSpPr txBox="1"/>
          <p:nvPr/>
        </p:nvSpPr>
        <p:spPr>
          <a:xfrm>
            <a:off x="822960" y="1143000"/>
            <a:ext cx="10546080" cy="1097280"/>
          </a:xfrm>
          <a:prstGeom prst="rect">
            <a:avLst/>
          </a:prstGeom>
          <a:noFill/>
        </p:spPr>
        <p:txBody>
          <a:bodyPr wrap="square" anchor="t" lIns="0" rIns="0" tIns="0" bIns="0">
            <a:spAutoFit/>
          </a:bodyPr>
          <a:lstStyle/>
          <a:p>
            <a:pPr algn="l"/>
            <a:r>
              <a:rPr sz="4000" b="0">
                <a:solidFill>
                  <a:srgbClr val="F2F4F7"/>
                </a:solidFill>
                <a:latin typeface="Helvetica Neue"/>
              </a:rPr>
              <a:t>Zimbabwe</a:t>
            </a:r>
          </a:p>
        </p:txBody>
      </p:sp>
      <p:sp>
        <p:nvSpPr>
          <p:cNvPr id="7" name="TextBox 6"/>
          <p:cNvSpPr txBox="1"/>
          <p:nvPr/>
        </p:nvSpPr>
        <p:spPr>
          <a:xfrm>
            <a:off x="1158240" y="2194560"/>
            <a:ext cx="3291840" cy="320040"/>
          </a:xfrm>
          <a:prstGeom prst="rect">
            <a:avLst/>
          </a:prstGeom>
          <a:noFill/>
        </p:spPr>
        <p:txBody>
          <a:bodyPr wrap="square" anchor="t" lIns="0" rIns="0" tIns="0" bIns="0">
            <a:spAutoFit/>
          </a:bodyPr>
          <a:lstStyle/>
          <a:p>
            <a:pPr algn="ctr"/>
            <a:r>
              <a:rPr sz="1600" b="1">
                <a:solidFill>
                  <a:srgbClr val="F5A524"/>
                </a:solidFill>
                <a:latin typeface="Helvetica Neue"/>
              </a:rPr>
              <a:t>✕ Missing</a:t>
            </a:r>
          </a:p>
        </p:txBody>
      </p:sp>
      <p:sp>
        <p:nvSpPr>
          <p:cNvPr id="8" name="Oval 7"/>
          <p:cNvSpPr/>
          <p:nvPr/>
        </p:nvSpPr>
        <p:spPr>
          <a:xfrm>
            <a:off x="1752600" y="2606040"/>
            <a:ext cx="2103120" cy="2103120"/>
          </a:xfrm>
          <a:prstGeom prst="ellipse">
            <a:avLst/>
          </a:prstGeom>
          <a:noFill/>
          <a:ln w="25400">
            <a:solidFill>
              <a:srgbClr val="F5A52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52600" y="2606040"/>
            <a:ext cx="2103120" cy="2103120"/>
          </a:xfrm>
          <a:prstGeom prst="rect">
            <a:avLst/>
          </a:prstGeom>
          <a:noFill/>
        </p:spPr>
        <p:txBody>
          <a:bodyPr wrap="square" anchor="ctr" lIns="0" rIns="0" tIns="0" bIns="0">
            <a:spAutoFit/>
          </a:bodyPr>
          <a:lstStyle/>
          <a:p>
            <a:pPr algn="ctr"/>
            <a:r>
              <a:rPr sz="6000" b="0">
                <a:solidFill>
                  <a:srgbClr val="868D99"/>
                </a:solidFill>
                <a:latin typeface="Helvetica Neue Light"/>
              </a:rPr>
              <a:t>?</a:t>
            </a:r>
          </a:p>
        </p:txBody>
      </p:sp>
      <p:sp>
        <p:nvSpPr>
          <p:cNvPr id="10" name="TextBox 9"/>
          <p:cNvSpPr txBox="1"/>
          <p:nvPr/>
        </p:nvSpPr>
        <p:spPr>
          <a:xfrm>
            <a:off x="1158240" y="4892040"/>
            <a:ext cx="3291840" cy="365760"/>
          </a:xfrm>
          <a:prstGeom prst="rect">
            <a:avLst/>
          </a:prstGeom>
          <a:noFill/>
        </p:spPr>
        <p:txBody>
          <a:bodyPr wrap="square" anchor="t" lIns="0" rIns="0" tIns="0" bIns="0">
            <a:spAutoFit/>
          </a:bodyPr>
          <a:lstStyle/>
          <a:p>
            <a:pPr algn="ctr"/>
            <a:r>
              <a:rPr sz="2000" b="0">
                <a:solidFill>
                  <a:srgbClr val="868D99"/>
                </a:solidFill>
                <a:latin typeface="Helvetica Neue"/>
              </a:rPr>
              <a:t>Musa Berkay Kocabaşoğlu</a:t>
            </a:r>
          </a:p>
        </p:txBody>
      </p:sp>
      <p:sp>
        <p:nvSpPr>
          <p:cNvPr id="11" name="Oval 10"/>
          <p:cNvSpPr/>
          <p:nvPr/>
        </p:nvSpPr>
        <p:spPr>
          <a:xfrm>
            <a:off x="4968240" y="2529840"/>
            <a:ext cx="2255520" cy="2255520"/>
          </a:xfrm>
          <a:prstGeom prst="ellipse">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5044440" y="2606040"/>
            <a:ext cx="2103120" cy="2103120"/>
          </a:xfrm>
          <a:prstGeom prst="rect">
            <a:avLst/>
          </a:prstGeom>
        </p:spPr>
      </p:pic>
      <p:sp>
        <p:nvSpPr>
          <p:cNvPr id="13" name="Oval 12"/>
          <p:cNvSpPr/>
          <p:nvPr/>
        </p:nvSpPr>
        <p:spPr>
          <a:xfrm>
            <a:off x="5044440" y="2606040"/>
            <a:ext cx="2103120" cy="2103120"/>
          </a:xfrm>
          <a:prstGeom prst="ellipse">
            <a:avLst/>
          </a:prstGeom>
          <a:noFill/>
          <a:ln w="25400">
            <a:solidFill>
              <a:srgbClr val="4D9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080" y="4892040"/>
            <a:ext cx="3291840" cy="365760"/>
          </a:xfrm>
          <a:prstGeom prst="rect">
            <a:avLst/>
          </a:prstGeom>
          <a:noFill/>
        </p:spPr>
        <p:txBody>
          <a:bodyPr wrap="square" anchor="t" lIns="0" rIns="0" tIns="0" bIns="0">
            <a:spAutoFit/>
          </a:bodyPr>
          <a:lstStyle/>
          <a:p>
            <a:pPr algn="ctr"/>
            <a:r>
              <a:rPr sz="2000" b="1">
                <a:solidFill>
                  <a:srgbClr val="F2F4F7"/>
                </a:solidFill>
                <a:latin typeface="Helvetica Neue"/>
              </a:rPr>
              <a:t>Atahan Kılıç</a:t>
            </a:r>
          </a:p>
        </p:txBody>
      </p:sp>
      <p:sp>
        <p:nvSpPr>
          <p:cNvPr id="15" name="TextBox 14"/>
          <p:cNvSpPr txBox="1"/>
          <p:nvPr/>
        </p:nvSpPr>
        <p:spPr>
          <a:xfrm>
            <a:off x="7741920" y="2194560"/>
            <a:ext cx="3291840" cy="320040"/>
          </a:xfrm>
          <a:prstGeom prst="rect">
            <a:avLst/>
          </a:prstGeom>
          <a:noFill/>
        </p:spPr>
        <p:txBody>
          <a:bodyPr wrap="square" anchor="t" lIns="0" rIns="0" tIns="0" bIns="0">
            <a:spAutoFit/>
          </a:bodyPr>
          <a:lstStyle/>
          <a:p>
            <a:pPr algn="ctr"/>
            <a:r>
              <a:rPr sz="1600" b="1">
                <a:solidFill>
                  <a:srgbClr val="F5A524"/>
                </a:solidFill>
                <a:latin typeface="Helvetica Neue"/>
              </a:rPr>
              <a:t>✕ Missing</a:t>
            </a:r>
          </a:p>
        </p:txBody>
      </p:sp>
      <p:sp>
        <p:nvSpPr>
          <p:cNvPr id="16" name="Oval 15"/>
          <p:cNvSpPr/>
          <p:nvPr/>
        </p:nvSpPr>
        <p:spPr>
          <a:xfrm>
            <a:off x="8336280" y="2606040"/>
            <a:ext cx="2103120" cy="2103120"/>
          </a:xfrm>
          <a:prstGeom prst="ellipse">
            <a:avLst/>
          </a:prstGeom>
          <a:noFill/>
          <a:ln w="25400">
            <a:solidFill>
              <a:srgbClr val="F5A52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2606040"/>
            <a:ext cx="2103120" cy="2103120"/>
          </a:xfrm>
          <a:prstGeom prst="rect">
            <a:avLst/>
          </a:prstGeom>
          <a:noFill/>
        </p:spPr>
        <p:txBody>
          <a:bodyPr wrap="square" anchor="ctr" lIns="0" rIns="0" tIns="0" bIns="0">
            <a:spAutoFit/>
          </a:bodyPr>
          <a:lstStyle/>
          <a:p>
            <a:pPr algn="ctr"/>
            <a:r>
              <a:rPr sz="6000" b="0">
                <a:solidFill>
                  <a:srgbClr val="868D99"/>
                </a:solidFill>
                <a:latin typeface="Helvetica Neue Light"/>
              </a:rPr>
              <a:t>?</a:t>
            </a:r>
          </a:p>
        </p:txBody>
      </p:sp>
      <p:sp>
        <p:nvSpPr>
          <p:cNvPr id="18" name="TextBox 17"/>
          <p:cNvSpPr txBox="1"/>
          <p:nvPr/>
        </p:nvSpPr>
        <p:spPr>
          <a:xfrm>
            <a:off x="7741920" y="4892040"/>
            <a:ext cx="3291840" cy="365760"/>
          </a:xfrm>
          <a:prstGeom prst="rect">
            <a:avLst/>
          </a:prstGeom>
          <a:noFill/>
        </p:spPr>
        <p:txBody>
          <a:bodyPr wrap="square" anchor="t" lIns="0" rIns="0" tIns="0" bIns="0">
            <a:spAutoFit/>
          </a:bodyPr>
          <a:lstStyle/>
          <a:p>
            <a:pPr algn="ctr"/>
            <a:r>
              <a:rPr sz="2000" b="0">
                <a:solidFill>
                  <a:srgbClr val="868D99"/>
                </a:solidFill>
                <a:latin typeface="Helvetica Neue"/>
              </a:rPr>
              <a:t>Utku Kalkanlı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3 / 8</a:t>
            </a:r>
          </a:p>
        </p:txBody>
      </p:sp>
      <p:sp>
        <p:nvSpPr>
          <p:cNvPr id="4" name="Rectangle 3"/>
          <p:cNvSpPr/>
          <p:nvPr/>
        </p:nvSpPr>
        <p:spPr>
          <a:xfrm>
            <a:off x="0" y="6832600"/>
            <a:ext cx="4572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1440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THE PROBLEM</a:t>
            </a:r>
          </a:p>
        </p:txBody>
      </p:sp>
      <p:sp>
        <p:nvSpPr>
          <p:cNvPr id="6" name="TextBox 5"/>
          <p:cNvSpPr txBox="1"/>
          <p:nvPr/>
        </p:nvSpPr>
        <p:spPr>
          <a:xfrm>
            <a:off x="822960" y="1280160"/>
            <a:ext cx="10546080" cy="1097280"/>
          </a:xfrm>
          <a:prstGeom prst="rect">
            <a:avLst/>
          </a:prstGeom>
          <a:noFill/>
        </p:spPr>
        <p:txBody>
          <a:bodyPr wrap="square" anchor="t" lIns="0" rIns="0" tIns="0" bIns="0">
            <a:spAutoFit/>
          </a:bodyPr>
          <a:lstStyle/>
          <a:p>
            <a:pPr algn="l"/>
            <a:r>
              <a:rPr sz="3400" b="0">
                <a:solidFill>
                  <a:srgbClr val="F2F4F7"/>
                </a:solidFill>
                <a:latin typeface="Helvetica Neue"/>
              </a:rPr>
              <a:t>Thousands of customer voices. Many markets. One question: what must the successor do?</a:t>
            </a:r>
          </a:p>
        </p:txBody>
      </p:sp>
      <p:sp>
        <p:nvSpPr>
          <p:cNvPr id="7" name="TextBox 6"/>
          <p:cNvSpPr txBox="1"/>
          <p:nvPr/>
        </p:nvSpPr>
        <p:spPr>
          <a:xfrm>
            <a:off x="822960" y="2606040"/>
            <a:ext cx="9491472" cy="1371600"/>
          </a:xfrm>
          <a:prstGeom prst="rect">
            <a:avLst/>
          </a:prstGeom>
          <a:noFill/>
        </p:spPr>
        <p:txBody>
          <a:bodyPr wrap="square" anchor="t" lIns="0" rIns="0" tIns="0" bIns="0">
            <a:spAutoFit/>
          </a:bodyPr>
          <a:lstStyle/>
          <a:p>
            <a:pPr algn="l" marL="292608" indent="-292608">
              <a:spcAft>
                <a:spcPts val="1000"/>
              </a:spcAft>
              <a:buClr>
                <a:srgbClr val="4D94FF"/>
              </a:buClr>
              <a:buFont typeface="Arial"/>
              <a:buChar char="○"/>
            </a:pPr>
            <a:r>
              <a:rPr sz="1800" b="1">
                <a:solidFill>
                  <a:srgbClr val="F2F4F7"/>
                </a:solidFill>
                <a:latin typeface="Helvetica Neue"/>
              </a:rPr>
              <a:t>Evidence is scattered:</a:t>
            </a:r>
            <a:r>
              <a:rPr sz="1800" b="0">
                <a:solidFill>
                  <a:srgbClr val="B4BAC4"/>
                </a:solidFill>
                <a:latin typeface="Helvetica Neue"/>
              </a:rPr>
              <a:t> verbatims, customer studies, sales and option lists, plus a fast-moving market.</a:t>
            </a:r>
          </a:p>
          <a:p>
            <a:pPr algn="l" marL="292608" indent="-292608">
              <a:spcAft>
                <a:spcPts val="1000"/>
              </a:spcAft>
              <a:buClr>
                <a:srgbClr val="4D94FF"/>
              </a:buClr>
              <a:buFont typeface="Arial"/>
              <a:buChar char="○"/>
            </a:pPr>
            <a:r>
              <a:rPr sz="1800" b="1">
                <a:solidFill>
                  <a:srgbClr val="F2F4F7"/>
                </a:solidFill>
                <a:latin typeface="Helvetica Neue"/>
              </a:rPr>
              <a:t>Markets are different customers:</a:t>
            </a:r>
            <a:r>
              <a:rPr sz="1800" b="0">
                <a:solidFill>
                  <a:srgbClr val="B4BAC4"/>
                </a:solidFill>
                <a:latin typeface="Helvetica Neue"/>
              </a:rPr>
              <a:t> the US, Europe and China must not be averaged away.</a:t>
            </a:r>
          </a:p>
          <a:p>
            <a:pPr algn="l" marL="292608" indent="-292608">
              <a:spcAft>
                <a:spcPts val="1000"/>
              </a:spcAft>
              <a:buClr>
                <a:srgbClr val="4D94FF"/>
              </a:buClr>
              <a:buFont typeface="Arial"/>
              <a:buChar char="○"/>
            </a:pPr>
            <a:r>
              <a:rPr sz="1800" b="1">
                <a:solidFill>
                  <a:srgbClr val="F2F4F7"/>
                </a:solidFill>
                <a:latin typeface="Helvetica Neue"/>
              </a:rPr>
              <a:t>Decisions live for years:</a:t>
            </a:r>
            <a:r>
              <a:rPr sz="1800" b="0">
                <a:solidFill>
                  <a:srgbClr val="B4BAC4"/>
                </a:solidFill>
                <a:latin typeface="Helvetica Neue"/>
              </a:rPr>
              <a:t> new evidence keeps arriving, and every decision has to stay traceable.</a:t>
            </a:r>
          </a:p>
        </p:txBody>
      </p:sp>
      <p:sp>
        <p:nvSpPr>
          <p:cNvPr id="8" name="Rounded Rectangle 7"/>
          <p:cNvSpPr/>
          <p:nvPr/>
        </p:nvSpPr>
        <p:spPr>
          <a:xfrm>
            <a:off x="822960" y="4846320"/>
            <a:ext cx="969264" cy="411480"/>
          </a:xfrm>
          <a:prstGeom prst="roundRect">
            <a:avLst>
              <a:gd name="adj" fmla="val 50000"/>
            </a:avLst>
          </a:prstGeom>
          <a:noFill/>
          <a:ln w="12700">
            <a:solidFill>
              <a:srgbClr val="4D94FF"/>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F2F4F7"/>
                </a:solidFill>
                <a:latin typeface="Helvetica Neue"/>
              </a:rPr>
              <a:t>Evidence</a:t>
            </a:r>
          </a:p>
        </p:txBody>
      </p:sp>
      <p:sp>
        <p:nvSpPr>
          <p:cNvPr id="9" name="TextBox 8"/>
          <p:cNvSpPr txBox="1"/>
          <p:nvPr/>
        </p:nvSpPr>
        <p:spPr>
          <a:xfrm>
            <a:off x="1792224" y="4846320"/>
            <a:ext cx="365760" cy="411480"/>
          </a:xfrm>
          <a:prstGeom prst="rect">
            <a:avLst/>
          </a:prstGeom>
          <a:noFill/>
        </p:spPr>
        <p:txBody>
          <a:bodyPr wrap="square" anchor="ctr" lIns="0" rIns="0" tIns="0" bIns="0">
            <a:spAutoFit/>
          </a:bodyPr>
          <a:lstStyle/>
          <a:p>
            <a:pPr algn="ctr"/>
            <a:r>
              <a:rPr sz="1500" b="0">
                <a:solidFill>
                  <a:srgbClr val="868D99"/>
                </a:solidFill>
                <a:latin typeface="Helvetica Neue"/>
              </a:rPr>
              <a:t>→</a:t>
            </a:r>
          </a:p>
        </p:txBody>
      </p:sp>
      <p:sp>
        <p:nvSpPr>
          <p:cNvPr id="10" name="Rounded Rectangle 9"/>
          <p:cNvSpPr/>
          <p:nvPr/>
        </p:nvSpPr>
        <p:spPr>
          <a:xfrm>
            <a:off x="2157984" y="4846320"/>
            <a:ext cx="1065276" cy="411480"/>
          </a:xfrm>
          <a:prstGeom prst="roundRect">
            <a:avLst>
              <a:gd name="adj" fmla="val 50000"/>
            </a:avLst>
          </a:prstGeom>
          <a:noFill/>
          <a:ln w="12700">
            <a:solidFill>
              <a:srgbClr val="2E2E2E"/>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B4BAC4"/>
                </a:solidFill>
                <a:latin typeface="Helvetica Neue"/>
              </a:rPr>
              <a:t>Structure</a:t>
            </a:r>
          </a:p>
        </p:txBody>
      </p:sp>
      <p:sp>
        <p:nvSpPr>
          <p:cNvPr id="11" name="TextBox 10"/>
          <p:cNvSpPr txBox="1"/>
          <p:nvPr/>
        </p:nvSpPr>
        <p:spPr>
          <a:xfrm>
            <a:off x="3223260" y="4846320"/>
            <a:ext cx="365760" cy="411480"/>
          </a:xfrm>
          <a:prstGeom prst="rect">
            <a:avLst/>
          </a:prstGeom>
          <a:noFill/>
        </p:spPr>
        <p:txBody>
          <a:bodyPr wrap="square" anchor="ctr" lIns="0" rIns="0" tIns="0" bIns="0">
            <a:spAutoFit/>
          </a:bodyPr>
          <a:lstStyle/>
          <a:p>
            <a:pPr algn="ctr"/>
            <a:r>
              <a:rPr sz="1500" b="0">
                <a:solidFill>
                  <a:srgbClr val="868D99"/>
                </a:solidFill>
                <a:latin typeface="Helvetica Neue"/>
              </a:rPr>
              <a:t>→</a:t>
            </a:r>
          </a:p>
        </p:txBody>
      </p:sp>
      <p:sp>
        <p:nvSpPr>
          <p:cNvPr id="12" name="Rounded Rectangle 11"/>
          <p:cNvSpPr/>
          <p:nvPr/>
        </p:nvSpPr>
        <p:spPr>
          <a:xfrm>
            <a:off x="3589020" y="4846320"/>
            <a:ext cx="1161288" cy="411480"/>
          </a:xfrm>
          <a:prstGeom prst="roundRect">
            <a:avLst>
              <a:gd name="adj" fmla="val 50000"/>
            </a:avLst>
          </a:prstGeom>
          <a:noFill/>
          <a:ln w="12700">
            <a:solidFill>
              <a:srgbClr val="2E2E2E"/>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B4BAC4"/>
                </a:solidFill>
                <a:latin typeface="Helvetica Neue"/>
              </a:rPr>
              <a:t>Definition</a:t>
            </a:r>
          </a:p>
        </p:txBody>
      </p:sp>
      <p:sp>
        <p:nvSpPr>
          <p:cNvPr id="13" name="TextBox 12"/>
          <p:cNvSpPr txBox="1"/>
          <p:nvPr/>
        </p:nvSpPr>
        <p:spPr>
          <a:xfrm>
            <a:off x="4750308" y="4846320"/>
            <a:ext cx="365760" cy="411480"/>
          </a:xfrm>
          <a:prstGeom prst="rect">
            <a:avLst/>
          </a:prstGeom>
          <a:noFill/>
        </p:spPr>
        <p:txBody>
          <a:bodyPr wrap="square" anchor="ctr" lIns="0" rIns="0" tIns="0" bIns="0">
            <a:spAutoFit/>
          </a:bodyPr>
          <a:lstStyle/>
          <a:p>
            <a:pPr algn="ctr"/>
            <a:r>
              <a:rPr sz="1500" b="0">
                <a:solidFill>
                  <a:srgbClr val="868D99"/>
                </a:solidFill>
                <a:latin typeface="Helvetica Neue"/>
              </a:rPr>
              <a:t>→</a:t>
            </a:r>
          </a:p>
        </p:txBody>
      </p:sp>
      <p:sp>
        <p:nvSpPr>
          <p:cNvPr id="14" name="Rounded Rectangle 13"/>
          <p:cNvSpPr/>
          <p:nvPr/>
        </p:nvSpPr>
        <p:spPr>
          <a:xfrm>
            <a:off x="5116068" y="4846320"/>
            <a:ext cx="1257300" cy="411480"/>
          </a:xfrm>
          <a:prstGeom prst="roundRect">
            <a:avLst>
              <a:gd name="adj" fmla="val 50000"/>
            </a:avLst>
          </a:prstGeom>
          <a:noFill/>
          <a:ln w="12700">
            <a:solidFill>
              <a:srgbClr val="2E2E2E"/>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B4BAC4"/>
                </a:solidFill>
                <a:latin typeface="Helvetica Neue"/>
              </a:rPr>
              <a:t>PM decision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4 / 8</a:t>
            </a:r>
          </a:p>
        </p:txBody>
      </p:sp>
      <p:sp>
        <p:nvSpPr>
          <p:cNvPr id="4" name="Rectangle 3"/>
          <p:cNvSpPr/>
          <p:nvPr/>
        </p:nvSpPr>
        <p:spPr>
          <a:xfrm>
            <a:off x="0" y="6832600"/>
            <a:ext cx="6096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1440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EVIDENCE</a:t>
            </a:r>
          </a:p>
        </p:txBody>
      </p:sp>
      <p:sp>
        <p:nvSpPr>
          <p:cNvPr id="6" name="TextBox 5"/>
          <p:cNvSpPr txBox="1"/>
          <p:nvPr/>
        </p:nvSpPr>
        <p:spPr>
          <a:xfrm>
            <a:off x="822960" y="1280160"/>
            <a:ext cx="10546080" cy="731520"/>
          </a:xfrm>
          <a:prstGeom prst="rect">
            <a:avLst/>
          </a:prstGeom>
          <a:noFill/>
        </p:spPr>
        <p:txBody>
          <a:bodyPr wrap="square" anchor="t" lIns="0" rIns="0" tIns="0" bIns="0">
            <a:spAutoFit/>
          </a:bodyPr>
          <a:lstStyle/>
          <a:p>
            <a:pPr algn="l"/>
            <a:r>
              <a:rPr sz="3400" b="0">
                <a:solidFill>
                  <a:srgbClr val="F2F4F7"/>
                </a:solidFill>
                <a:latin typeface="Helvetica Neue"/>
              </a:rPr>
              <a:t>Every source in one space, always live.</a:t>
            </a:r>
          </a:p>
        </p:txBody>
      </p:sp>
      <p:cxnSp>
        <p:nvCxnSpPr>
          <p:cNvPr id="7" name="Connector 6"/>
          <p:cNvCxnSpPr/>
          <p:nvPr/>
        </p:nvCxnSpPr>
        <p:spPr>
          <a:xfrm>
            <a:off x="822960" y="2331720"/>
            <a:ext cx="10546080" cy="0"/>
          </a:xfrm>
          <a:prstGeom prst="line">
            <a:avLst/>
          </a:prstGeom>
          <a:ln w="12700">
            <a:solidFill>
              <a:srgbClr val="2E2E2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22960" y="2560320"/>
            <a:ext cx="2453640" cy="1280160"/>
          </a:xfrm>
          <a:prstGeom prst="rect">
            <a:avLst/>
          </a:prstGeom>
          <a:noFill/>
        </p:spPr>
        <p:txBody>
          <a:bodyPr wrap="square" anchor="t" lIns="0" rIns="0" tIns="0" bIns="0">
            <a:spAutoFit/>
          </a:bodyPr>
          <a:lstStyle/>
          <a:p>
            <a:pPr algn="l">
              <a:spcAft>
                <a:spcPts val="600"/>
              </a:spcAft>
            </a:pPr>
            <a:r>
              <a:rPr sz="3400" b="0">
                <a:solidFill>
                  <a:srgbClr val="F2F4F7"/>
                </a:solidFill>
                <a:latin typeface="Helvetica Neue Light"/>
              </a:rPr>
              <a:t>Voice</a:t>
            </a:r>
          </a:p>
          <a:p>
            <a:pPr algn="l">
              <a:spcAft>
                <a:spcPts val="600"/>
              </a:spcAft>
            </a:pPr>
            <a:r>
              <a:rPr sz="1300" b="0">
                <a:solidFill>
                  <a:srgbClr val="868D99"/>
                </a:solidFill>
                <a:latin typeface="Helvetica Neue"/>
              </a:rPr>
              <a:t>what customers say,
across car lines</a:t>
            </a:r>
          </a:p>
        </p:txBody>
      </p:sp>
      <p:sp>
        <p:nvSpPr>
          <p:cNvPr id="9" name="TextBox 8"/>
          <p:cNvSpPr txBox="1"/>
          <p:nvPr/>
        </p:nvSpPr>
        <p:spPr>
          <a:xfrm>
            <a:off x="3459480" y="2560320"/>
            <a:ext cx="2453640" cy="1280160"/>
          </a:xfrm>
          <a:prstGeom prst="rect">
            <a:avLst/>
          </a:prstGeom>
          <a:noFill/>
        </p:spPr>
        <p:txBody>
          <a:bodyPr wrap="square" anchor="t" lIns="0" rIns="0" tIns="0" bIns="0">
            <a:spAutoFit/>
          </a:bodyPr>
          <a:lstStyle/>
          <a:p>
            <a:pPr algn="l">
              <a:spcAft>
                <a:spcPts val="600"/>
              </a:spcAft>
            </a:pPr>
            <a:r>
              <a:rPr sz="3400" b="0">
                <a:solidFill>
                  <a:srgbClr val="F2F4F7"/>
                </a:solidFill>
                <a:latin typeface="Helvetica Neue Light"/>
              </a:rPr>
              <a:t>Data</a:t>
            </a:r>
          </a:p>
          <a:p>
            <a:pPr algn="l">
              <a:spcAft>
                <a:spcPts val="600"/>
              </a:spcAft>
            </a:pPr>
            <a:r>
              <a:rPr sz="1300" b="0">
                <a:solidFill>
                  <a:srgbClr val="868D99"/>
                </a:solidFill>
                <a:latin typeface="Helvetica Neue"/>
              </a:rPr>
              <a:t>BMW studies, options
and sales</a:t>
            </a:r>
          </a:p>
        </p:txBody>
      </p:sp>
      <p:sp>
        <p:nvSpPr>
          <p:cNvPr id="10" name="TextBox 9"/>
          <p:cNvSpPr txBox="1"/>
          <p:nvPr/>
        </p:nvSpPr>
        <p:spPr>
          <a:xfrm>
            <a:off x="6096000" y="2560320"/>
            <a:ext cx="2453640" cy="1280160"/>
          </a:xfrm>
          <a:prstGeom prst="rect">
            <a:avLst/>
          </a:prstGeom>
          <a:noFill/>
        </p:spPr>
        <p:txBody>
          <a:bodyPr wrap="square" anchor="t" lIns="0" rIns="0" tIns="0" bIns="0">
            <a:spAutoFit/>
          </a:bodyPr>
          <a:lstStyle/>
          <a:p>
            <a:pPr algn="l">
              <a:spcAft>
                <a:spcPts val="600"/>
              </a:spcAft>
            </a:pPr>
            <a:r>
              <a:rPr sz="3400" b="0">
                <a:solidFill>
                  <a:srgbClr val="F2F4F7"/>
                </a:solidFill>
                <a:latin typeface="Helvetica Neue Light"/>
              </a:rPr>
              <a:t>World</a:t>
            </a:r>
          </a:p>
          <a:p>
            <a:pPr algn="l">
              <a:spcAft>
                <a:spcPts val="600"/>
              </a:spcAft>
            </a:pPr>
            <a:r>
              <a:rPr sz="1300" b="0">
                <a:solidFill>
                  <a:srgbClr val="868D99"/>
                </a:solidFill>
                <a:latin typeface="Helvetica Neue"/>
              </a:rPr>
              <a:t>cited web research with
source, date and trust</a:t>
            </a:r>
          </a:p>
        </p:txBody>
      </p:sp>
      <p:sp>
        <p:nvSpPr>
          <p:cNvPr id="11" name="TextBox 10"/>
          <p:cNvSpPr txBox="1"/>
          <p:nvPr/>
        </p:nvSpPr>
        <p:spPr>
          <a:xfrm>
            <a:off x="8732520" y="2560320"/>
            <a:ext cx="2453640" cy="1280160"/>
          </a:xfrm>
          <a:prstGeom prst="rect">
            <a:avLst/>
          </a:prstGeom>
          <a:noFill/>
        </p:spPr>
        <p:txBody>
          <a:bodyPr wrap="square" anchor="t" lIns="0" rIns="0" tIns="0" bIns="0">
            <a:spAutoFit/>
          </a:bodyPr>
          <a:lstStyle/>
          <a:p>
            <a:pPr algn="l">
              <a:spcAft>
                <a:spcPts val="600"/>
              </a:spcAft>
            </a:pPr>
            <a:r>
              <a:rPr sz="3400" b="0">
                <a:solidFill>
                  <a:srgbClr val="F2F4F7"/>
                </a:solidFill>
                <a:latin typeface="Helvetica Neue Light"/>
              </a:rPr>
              <a:t>Live</a:t>
            </a:r>
          </a:p>
          <a:p>
            <a:pPr algn="l">
              <a:spcAft>
                <a:spcPts val="600"/>
              </a:spcAft>
            </a:pPr>
            <a:r>
              <a:rPr sz="1300" b="0">
                <a:solidFill>
                  <a:srgbClr val="868D99"/>
                </a:solidFill>
                <a:latin typeface="Helvetica Neue"/>
              </a:rPr>
              <a:t>new data keeps flowing in;
every update builds on the last</a:t>
            </a:r>
          </a:p>
        </p:txBody>
      </p:sp>
      <p:sp>
        <p:nvSpPr>
          <p:cNvPr id="12" name="TextBox 11"/>
          <p:cNvSpPr txBox="1"/>
          <p:nvPr/>
        </p:nvSpPr>
        <p:spPr>
          <a:xfrm>
            <a:off x="822960" y="4251960"/>
            <a:ext cx="9491472" cy="457200"/>
          </a:xfrm>
          <a:prstGeom prst="rect">
            <a:avLst/>
          </a:prstGeom>
          <a:noFill/>
        </p:spPr>
        <p:txBody>
          <a:bodyPr wrap="square" anchor="t" lIns="0" rIns="0" tIns="0" bIns="0">
            <a:spAutoFit/>
          </a:bodyPr>
          <a:lstStyle/>
          <a:p>
            <a:pPr algn="l" marL="292608" indent="-292608">
              <a:spcAft>
                <a:spcPts val="1000"/>
              </a:spcAft>
              <a:buClr>
                <a:srgbClr val="4D94FF"/>
              </a:buClr>
              <a:buFont typeface="Arial"/>
              <a:buChar char="○"/>
            </a:pPr>
            <a:r>
              <a:rPr sz="1800" b="1">
                <a:solidFill>
                  <a:srgbClr val="F2F4F7"/>
                </a:solidFill>
                <a:latin typeface="Helvetica Neue"/>
              </a:rPr>
              <a:t>Honest data:</a:t>
            </a:r>
            <a:r>
              <a:rPr sz="1800" b="0">
                <a:solidFill>
                  <a:srgbClr val="B4BAC4"/>
                </a:solidFill>
                <a:latin typeface="Helvetica Neue"/>
              </a:rPr>
              <a:t> internal figures are checked against public ones, and conflicts are shown, never blended silently.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5 / 8</a:t>
            </a:r>
          </a:p>
        </p:txBody>
      </p:sp>
      <p:sp>
        <p:nvSpPr>
          <p:cNvPr id="4" name="Rectangle 3"/>
          <p:cNvSpPr/>
          <p:nvPr/>
        </p:nvSpPr>
        <p:spPr>
          <a:xfrm>
            <a:off x="0" y="6832600"/>
            <a:ext cx="7620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1440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STRUCTURE</a:t>
            </a:r>
          </a:p>
        </p:txBody>
      </p:sp>
      <p:sp>
        <p:nvSpPr>
          <p:cNvPr id="6" name="TextBox 5"/>
          <p:cNvSpPr txBox="1"/>
          <p:nvPr/>
        </p:nvSpPr>
        <p:spPr>
          <a:xfrm>
            <a:off x="822960" y="1280160"/>
            <a:ext cx="10546080" cy="731520"/>
          </a:xfrm>
          <a:prstGeom prst="rect">
            <a:avLst/>
          </a:prstGeom>
          <a:noFill/>
        </p:spPr>
        <p:txBody>
          <a:bodyPr wrap="square" anchor="t" lIns="0" rIns="0" tIns="0" bIns="0">
            <a:spAutoFit/>
          </a:bodyPr>
          <a:lstStyle/>
          <a:p>
            <a:pPr algn="l"/>
            <a:r>
              <a:rPr sz="3400" b="0">
                <a:solidFill>
                  <a:srgbClr val="F2F4F7"/>
                </a:solidFill>
                <a:latin typeface="Helvetica Neue"/>
              </a:rPr>
              <a:t>The AI reads everything and builds an evidence graph.</a:t>
            </a:r>
          </a:p>
        </p:txBody>
      </p:sp>
      <p:sp>
        <p:nvSpPr>
          <p:cNvPr id="7" name="Rounded Rectangle 6"/>
          <p:cNvSpPr/>
          <p:nvPr/>
        </p:nvSpPr>
        <p:spPr>
          <a:xfrm>
            <a:off x="822960" y="2240280"/>
            <a:ext cx="969264" cy="411480"/>
          </a:xfrm>
          <a:prstGeom prst="roundRect">
            <a:avLst>
              <a:gd name="adj" fmla="val 50000"/>
            </a:avLst>
          </a:prstGeom>
          <a:noFill/>
          <a:ln w="12700">
            <a:solidFill>
              <a:srgbClr val="2E2E2E"/>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B4BAC4"/>
                </a:solidFill>
                <a:latin typeface="Helvetica Neue"/>
              </a:rPr>
              <a:t>Classify</a:t>
            </a:r>
          </a:p>
        </p:txBody>
      </p:sp>
      <p:sp>
        <p:nvSpPr>
          <p:cNvPr id="8" name="TextBox 7"/>
          <p:cNvSpPr txBox="1"/>
          <p:nvPr/>
        </p:nvSpPr>
        <p:spPr>
          <a:xfrm>
            <a:off x="1792224" y="2240280"/>
            <a:ext cx="365760" cy="411480"/>
          </a:xfrm>
          <a:prstGeom prst="rect">
            <a:avLst/>
          </a:prstGeom>
          <a:noFill/>
        </p:spPr>
        <p:txBody>
          <a:bodyPr wrap="square" anchor="ctr" lIns="0" rIns="0" tIns="0" bIns="0">
            <a:spAutoFit/>
          </a:bodyPr>
          <a:lstStyle/>
          <a:p>
            <a:pPr algn="ctr"/>
            <a:r>
              <a:rPr sz="1500" b="0">
                <a:solidFill>
                  <a:srgbClr val="868D99"/>
                </a:solidFill>
                <a:latin typeface="Helvetica Neue"/>
              </a:rPr>
              <a:t>→</a:t>
            </a:r>
          </a:p>
        </p:txBody>
      </p:sp>
      <p:sp>
        <p:nvSpPr>
          <p:cNvPr id="9" name="Rounded Rectangle 8"/>
          <p:cNvSpPr/>
          <p:nvPr/>
        </p:nvSpPr>
        <p:spPr>
          <a:xfrm>
            <a:off x="2157984" y="2240280"/>
            <a:ext cx="873252" cy="411480"/>
          </a:xfrm>
          <a:prstGeom prst="roundRect">
            <a:avLst>
              <a:gd name="adj" fmla="val 50000"/>
            </a:avLst>
          </a:prstGeom>
          <a:noFill/>
          <a:ln w="12700">
            <a:solidFill>
              <a:srgbClr val="2E2E2E"/>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B4BAC4"/>
                </a:solidFill>
                <a:latin typeface="Helvetica Neue"/>
              </a:rPr>
              <a:t>Cluster</a:t>
            </a:r>
          </a:p>
        </p:txBody>
      </p:sp>
      <p:sp>
        <p:nvSpPr>
          <p:cNvPr id="10" name="TextBox 9"/>
          <p:cNvSpPr txBox="1"/>
          <p:nvPr/>
        </p:nvSpPr>
        <p:spPr>
          <a:xfrm>
            <a:off x="3031236" y="2240280"/>
            <a:ext cx="365760" cy="411480"/>
          </a:xfrm>
          <a:prstGeom prst="rect">
            <a:avLst/>
          </a:prstGeom>
          <a:noFill/>
        </p:spPr>
        <p:txBody>
          <a:bodyPr wrap="square" anchor="ctr" lIns="0" rIns="0" tIns="0" bIns="0">
            <a:spAutoFit/>
          </a:bodyPr>
          <a:lstStyle/>
          <a:p>
            <a:pPr algn="ctr"/>
            <a:r>
              <a:rPr sz="1500" b="0">
                <a:solidFill>
                  <a:srgbClr val="868D99"/>
                </a:solidFill>
                <a:latin typeface="Helvetica Neue"/>
              </a:rPr>
              <a:t>→</a:t>
            </a:r>
          </a:p>
        </p:txBody>
      </p:sp>
      <p:sp>
        <p:nvSpPr>
          <p:cNvPr id="11" name="Rounded Rectangle 10"/>
          <p:cNvSpPr/>
          <p:nvPr/>
        </p:nvSpPr>
        <p:spPr>
          <a:xfrm>
            <a:off x="3396996" y="2240280"/>
            <a:ext cx="1449324" cy="411480"/>
          </a:xfrm>
          <a:prstGeom prst="roundRect">
            <a:avLst>
              <a:gd name="adj" fmla="val 50000"/>
            </a:avLst>
          </a:prstGeom>
          <a:noFill/>
          <a:ln w="12700">
            <a:solidFill>
              <a:srgbClr val="2E2E2E"/>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B4BAC4"/>
                </a:solidFill>
                <a:latin typeface="Helvetica Neue"/>
              </a:rPr>
              <a:t>Contextualize</a:t>
            </a:r>
          </a:p>
        </p:txBody>
      </p:sp>
      <p:sp>
        <p:nvSpPr>
          <p:cNvPr id="12" name="TextBox 11"/>
          <p:cNvSpPr txBox="1"/>
          <p:nvPr/>
        </p:nvSpPr>
        <p:spPr>
          <a:xfrm>
            <a:off x="4846320" y="2240280"/>
            <a:ext cx="365760" cy="411480"/>
          </a:xfrm>
          <a:prstGeom prst="rect">
            <a:avLst/>
          </a:prstGeom>
          <a:noFill/>
        </p:spPr>
        <p:txBody>
          <a:bodyPr wrap="square" anchor="ctr" lIns="0" rIns="0" tIns="0" bIns="0">
            <a:spAutoFit/>
          </a:bodyPr>
          <a:lstStyle/>
          <a:p>
            <a:pPr algn="ctr"/>
            <a:r>
              <a:rPr sz="1500" b="0">
                <a:solidFill>
                  <a:srgbClr val="868D99"/>
                </a:solidFill>
                <a:latin typeface="Helvetica Neue"/>
              </a:rPr>
              <a:t>→</a:t>
            </a:r>
          </a:p>
        </p:txBody>
      </p:sp>
      <p:sp>
        <p:nvSpPr>
          <p:cNvPr id="13" name="Rounded Rectangle 12"/>
          <p:cNvSpPr/>
          <p:nvPr/>
        </p:nvSpPr>
        <p:spPr>
          <a:xfrm>
            <a:off x="5212080" y="2240280"/>
            <a:ext cx="1833372" cy="411480"/>
          </a:xfrm>
          <a:prstGeom prst="roundRect">
            <a:avLst>
              <a:gd name="adj" fmla="val 50000"/>
            </a:avLst>
          </a:prstGeom>
          <a:noFill/>
          <a:ln w="12700">
            <a:solidFill>
              <a:srgbClr val="4D94FF"/>
            </a:solid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a:solidFill>
                  <a:srgbClr val="F2F4F7"/>
                </a:solidFill>
                <a:latin typeface="Helvetica Neue"/>
              </a:rPr>
              <a:t>Requirement areas</a:t>
            </a:r>
          </a:p>
        </p:txBody>
      </p:sp>
      <p:sp>
        <p:nvSpPr>
          <p:cNvPr id="14" name="TextBox 13"/>
          <p:cNvSpPr txBox="1"/>
          <p:nvPr/>
        </p:nvSpPr>
        <p:spPr>
          <a:xfrm>
            <a:off x="822960" y="3108960"/>
            <a:ext cx="9491472" cy="1371600"/>
          </a:xfrm>
          <a:prstGeom prst="rect">
            <a:avLst/>
          </a:prstGeom>
          <a:noFill/>
        </p:spPr>
        <p:txBody>
          <a:bodyPr wrap="square" anchor="t" lIns="0" rIns="0" tIns="0" bIns="0">
            <a:spAutoFit/>
          </a:bodyPr>
          <a:lstStyle/>
          <a:p>
            <a:pPr algn="l" marL="292608" indent="-292608">
              <a:spcAft>
                <a:spcPts val="1000"/>
              </a:spcAft>
              <a:buClr>
                <a:srgbClr val="4D94FF"/>
              </a:buClr>
              <a:buFont typeface="Arial"/>
              <a:buChar char="○"/>
            </a:pPr>
            <a:r>
              <a:rPr sz="1800" b="1">
                <a:solidFill>
                  <a:srgbClr val="F2F4F7"/>
                </a:solidFill>
                <a:latin typeface="Helvetica Neue"/>
              </a:rPr>
              <a:t>One shared language</a:t>
            </a:r>
            <a:r>
              <a:rPr sz="1800" b="0">
                <a:solidFill>
                  <a:srgbClr val="B4BAC4"/>
                </a:solidFill>
                <a:latin typeface="Helvetica Neue"/>
              </a:rPr>
              <a:t> for comments, studies and research, across the whole portfolio.</a:t>
            </a:r>
          </a:p>
          <a:p>
            <a:pPr algn="l" marL="292608" indent="-292608">
              <a:spcAft>
                <a:spcPts val="1000"/>
              </a:spcAft>
              <a:buClr>
                <a:srgbClr val="4D94FF"/>
              </a:buClr>
              <a:buFont typeface="Arial"/>
              <a:buChar char="○"/>
            </a:pPr>
            <a:r>
              <a:rPr sz="1800" b="1">
                <a:solidFill>
                  <a:srgbClr val="F2F4F7"/>
                </a:solidFill>
                <a:latin typeface="Helvetica Neue"/>
              </a:rPr>
              <a:t>Needs are linked to the world:</a:t>
            </a:r>
            <a:r>
              <a:rPr sz="1800" b="0">
                <a:solidFill>
                  <a:srgbClr val="B4BAC4"/>
                </a:solidFill>
                <a:latin typeface="Helvetica Neue"/>
              </a:rPr>
              <a:t> what supports them, what contradicts them, and where rivals compete.</a:t>
            </a:r>
          </a:p>
          <a:p>
            <a:pPr algn="l" marL="292608" indent="-292608">
              <a:spcAft>
                <a:spcPts val="1000"/>
              </a:spcAft>
              <a:buClr>
                <a:srgbClr val="4D94FF"/>
              </a:buClr>
              <a:buFont typeface="Arial"/>
              <a:buChar char="○"/>
            </a:pPr>
            <a:r>
              <a:rPr sz="1800" b="1">
                <a:solidFill>
                  <a:srgbClr val="F2F4F7"/>
                </a:solidFill>
                <a:latin typeface="Helvetica Neue"/>
              </a:rPr>
              <a:t>Change is tested statistically,</a:t>
            </a:r>
            <a:r>
              <a:rPr sz="1800" b="0">
                <a:solidFill>
                  <a:srgbClr val="B4BAC4"/>
                </a:solidFill>
                <a:latin typeface="Helvetica Neue"/>
              </a:rPr>
              <a:t> so new data can't fake a trend. Defects go to Quality, not into requirements.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6 / 8</a:t>
            </a:r>
          </a:p>
        </p:txBody>
      </p:sp>
      <p:sp>
        <p:nvSpPr>
          <p:cNvPr id="4" name="Rectangle 3"/>
          <p:cNvSpPr/>
          <p:nvPr/>
        </p:nvSpPr>
        <p:spPr>
          <a:xfrm>
            <a:off x="0" y="6832600"/>
            <a:ext cx="9144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1440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DEFINITION</a:t>
            </a:r>
          </a:p>
        </p:txBody>
      </p:sp>
      <p:sp>
        <p:nvSpPr>
          <p:cNvPr id="6" name="TextBox 5"/>
          <p:cNvSpPr txBox="1"/>
          <p:nvPr/>
        </p:nvSpPr>
        <p:spPr>
          <a:xfrm>
            <a:off x="822960" y="1280160"/>
            <a:ext cx="10546080" cy="731520"/>
          </a:xfrm>
          <a:prstGeom prst="rect">
            <a:avLst/>
          </a:prstGeom>
          <a:noFill/>
        </p:spPr>
        <p:txBody>
          <a:bodyPr wrap="square" anchor="t" lIns="0" rIns="0" tIns="0" bIns="0">
            <a:spAutoFit/>
          </a:bodyPr>
          <a:lstStyle/>
          <a:p>
            <a:pPr algn="l"/>
            <a:r>
              <a:rPr sz="3400" b="0">
                <a:solidFill>
                  <a:srgbClr val="F2F4F7"/>
                </a:solidFill>
                <a:latin typeface="Helvetica Neue"/>
              </a:rPr>
              <a:t>From need to a measurable requirement, placed on the car.</a:t>
            </a:r>
          </a:p>
        </p:txBody>
      </p:sp>
      <p:cxnSp>
        <p:nvCxnSpPr>
          <p:cNvPr id="7" name="Connector 6"/>
          <p:cNvCxnSpPr/>
          <p:nvPr/>
        </p:nvCxnSpPr>
        <p:spPr>
          <a:xfrm>
            <a:off x="822960" y="2606040"/>
            <a:ext cx="7909560" cy="0"/>
          </a:xfrm>
          <a:prstGeom prst="line">
            <a:avLst/>
          </a:prstGeom>
          <a:ln w="12700">
            <a:solidFill>
              <a:srgbClr val="2E2E2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22960" y="2834640"/>
            <a:ext cx="1794510" cy="1280160"/>
          </a:xfrm>
          <a:prstGeom prst="rect">
            <a:avLst/>
          </a:prstGeom>
          <a:noFill/>
        </p:spPr>
        <p:txBody>
          <a:bodyPr wrap="square" anchor="t" lIns="0" rIns="0" tIns="0" bIns="0">
            <a:spAutoFit/>
          </a:bodyPr>
          <a:lstStyle/>
          <a:p>
            <a:pPr algn="l">
              <a:spcAft>
                <a:spcPts val="600"/>
              </a:spcAft>
            </a:pPr>
            <a:r>
              <a:rPr sz="2000" b="0">
                <a:solidFill>
                  <a:srgbClr val="F2F4F7"/>
                </a:solidFill>
                <a:latin typeface="Helvetica Neue"/>
              </a:rPr>
              <a:t>Baseline</a:t>
            </a:r>
          </a:p>
          <a:p>
            <a:pPr algn="l">
              <a:spcAft>
                <a:spcPts val="600"/>
              </a:spcAft>
            </a:pPr>
            <a:r>
              <a:rPr sz="1400" b="0">
                <a:solidFill>
                  <a:srgbClr val="868D99"/>
                </a:solidFill>
                <a:latin typeface="Helvetica Neue"/>
              </a:rPr>
              <a:t>today's BMW</a:t>
            </a:r>
          </a:p>
        </p:txBody>
      </p:sp>
      <p:sp>
        <p:nvSpPr>
          <p:cNvPr id="9" name="TextBox 8"/>
          <p:cNvSpPr txBox="1"/>
          <p:nvPr/>
        </p:nvSpPr>
        <p:spPr>
          <a:xfrm>
            <a:off x="2800350" y="2834640"/>
            <a:ext cx="1794510" cy="1280160"/>
          </a:xfrm>
          <a:prstGeom prst="rect">
            <a:avLst/>
          </a:prstGeom>
          <a:noFill/>
        </p:spPr>
        <p:txBody>
          <a:bodyPr wrap="square" anchor="t" lIns="0" rIns="0" tIns="0" bIns="0">
            <a:spAutoFit/>
          </a:bodyPr>
          <a:lstStyle/>
          <a:p>
            <a:pPr algn="l">
              <a:spcAft>
                <a:spcPts val="600"/>
              </a:spcAft>
            </a:pPr>
            <a:r>
              <a:rPr sz="2000" b="0">
                <a:solidFill>
                  <a:srgbClr val="F2F4F7"/>
                </a:solidFill>
                <a:latin typeface="Helvetica Neue"/>
              </a:rPr>
              <a:t>Threshold</a:t>
            </a:r>
          </a:p>
          <a:p>
            <a:pPr algn="l">
              <a:spcAft>
                <a:spcPts val="600"/>
              </a:spcAft>
            </a:pPr>
            <a:r>
              <a:rPr sz="1400" b="0">
                <a:solidFill>
                  <a:srgbClr val="868D99"/>
                </a:solidFill>
                <a:latin typeface="Helvetica Neue"/>
              </a:rPr>
              <a:t>rival parity</a:t>
            </a:r>
          </a:p>
        </p:txBody>
      </p:sp>
      <p:sp>
        <p:nvSpPr>
          <p:cNvPr id="10" name="TextBox 9"/>
          <p:cNvSpPr txBox="1"/>
          <p:nvPr/>
        </p:nvSpPr>
        <p:spPr>
          <a:xfrm>
            <a:off x="4777740" y="2834640"/>
            <a:ext cx="1794510" cy="1280160"/>
          </a:xfrm>
          <a:prstGeom prst="rect">
            <a:avLst/>
          </a:prstGeom>
          <a:noFill/>
        </p:spPr>
        <p:txBody>
          <a:bodyPr wrap="square" anchor="t" lIns="0" rIns="0" tIns="0" bIns="0">
            <a:spAutoFit/>
          </a:bodyPr>
          <a:lstStyle/>
          <a:p>
            <a:pPr algn="l">
              <a:spcAft>
                <a:spcPts val="600"/>
              </a:spcAft>
            </a:pPr>
            <a:r>
              <a:rPr sz="2000" b="0">
                <a:solidFill>
                  <a:srgbClr val="4D94FF"/>
                </a:solidFill>
                <a:latin typeface="Helvetica Neue"/>
              </a:rPr>
              <a:t>Target</a:t>
            </a:r>
          </a:p>
          <a:p>
            <a:pPr algn="l">
              <a:spcAft>
                <a:spcPts val="600"/>
              </a:spcAft>
            </a:pPr>
            <a:r>
              <a:rPr sz="1400" b="0">
                <a:solidFill>
                  <a:srgbClr val="868D99"/>
                </a:solidFill>
                <a:latin typeface="Helvetica Neue"/>
              </a:rPr>
              <a:t>projected to launch</a:t>
            </a:r>
          </a:p>
        </p:txBody>
      </p:sp>
      <p:sp>
        <p:nvSpPr>
          <p:cNvPr id="11" name="TextBox 10"/>
          <p:cNvSpPr txBox="1"/>
          <p:nvPr/>
        </p:nvSpPr>
        <p:spPr>
          <a:xfrm>
            <a:off x="6755130" y="2834640"/>
            <a:ext cx="1794510" cy="1280160"/>
          </a:xfrm>
          <a:prstGeom prst="rect">
            <a:avLst/>
          </a:prstGeom>
          <a:noFill/>
        </p:spPr>
        <p:txBody>
          <a:bodyPr wrap="square" anchor="t" lIns="0" rIns="0" tIns="0" bIns="0">
            <a:spAutoFit/>
          </a:bodyPr>
          <a:lstStyle/>
          <a:p>
            <a:pPr algn="l">
              <a:spcAft>
                <a:spcPts val="600"/>
              </a:spcAft>
            </a:pPr>
            <a:r>
              <a:rPr sz="2000" b="0">
                <a:solidFill>
                  <a:srgbClr val="F2F4F7"/>
                </a:solidFill>
                <a:latin typeface="Helvetica Neue"/>
              </a:rPr>
              <a:t>Stretch</a:t>
            </a:r>
          </a:p>
          <a:p>
            <a:pPr algn="l">
              <a:spcAft>
                <a:spcPts val="600"/>
              </a:spcAft>
            </a:pPr>
            <a:r>
              <a:rPr sz="1400" b="0">
                <a:solidFill>
                  <a:srgbClr val="868D99"/>
                </a:solidFill>
                <a:latin typeface="Helvetica Neue"/>
              </a:rPr>
              <a:t>delighter</a:t>
            </a:r>
          </a:p>
        </p:txBody>
      </p:sp>
      <p:sp>
        <p:nvSpPr>
          <p:cNvPr id="12" name="TextBox 11"/>
          <p:cNvSpPr txBox="1"/>
          <p:nvPr/>
        </p:nvSpPr>
        <p:spPr>
          <a:xfrm>
            <a:off x="822960" y="3749039"/>
            <a:ext cx="9491472" cy="1371600"/>
          </a:xfrm>
          <a:prstGeom prst="rect">
            <a:avLst/>
          </a:prstGeom>
          <a:noFill/>
        </p:spPr>
        <p:txBody>
          <a:bodyPr wrap="square" anchor="t" lIns="0" rIns="0" tIns="0" bIns="0">
            <a:spAutoFit/>
          </a:bodyPr>
          <a:lstStyle/>
          <a:p>
            <a:pPr algn="l" marL="292608" indent="-292608">
              <a:spcAft>
                <a:spcPts val="1000"/>
              </a:spcAft>
              <a:buClr>
                <a:srgbClr val="4D94FF"/>
              </a:buClr>
              <a:buFont typeface="Arial"/>
              <a:buChar char="○"/>
            </a:pPr>
            <a:r>
              <a:rPr sz="1800" b="1">
                <a:solidFill>
                  <a:srgbClr val="F2F4F7"/>
                </a:solidFill>
                <a:latin typeface="Helvetica Neue"/>
              </a:rPr>
              <a:t>One metric the customer feels,</a:t>
            </a:r>
            <a:r>
              <a:rPr sz="1800" b="0">
                <a:solidFill>
                  <a:srgbClr val="B4BAC4"/>
                </a:solidFill>
                <a:latin typeface="Helvetica Neue"/>
              </a:rPr>
              <a:t> with a target ladder per car and market. The AI recommends a rung; the PM picks.</a:t>
            </a:r>
          </a:p>
          <a:p>
            <a:pPr algn="l" marL="292608" indent="-292608">
              <a:spcAft>
                <a:spcPts val="1000"/>
              </a:spcAft>
              <a:buClr>
                <a:srgbClr val="4D94FF"/>
              </a:buClr>
              <a:buFont typeface="Arial"/>
              <a:buChar char="○"/>
            </a:pPr>
            <a:r>
              <a:rPr sz="1800" b="1">
                <a:solidFill>
                  <a:srgbClr val="F2F4F7"/>
                </a:solidFill>
                <a:latin typeface="Helvetica Neue"/>
              </a:rPr>
              <a:t>Every number has a basis:</a:t>
            </a:r>
            <a:r>
              <a:rPr sz="1800" b="0">
                <a:solidFill>
                  <a:srgbClr val="B4BAC4"/>
                </a:solidFill>
                <a:latin typeface="Helvetica Neue"/>
              </a:rPr>
              <a:t> cited, projected, assumption or gap. The AI never invents a number to fill a gap.</a:t>
            </a:r>
          </a:p>
          <a:p>
            <a:pPr algn="l" marL="292608" indent="-292608">
              <a:spcAft>
                <a:spcPts val="1000"/>
              </a:spcAft>
              <a:buClr>
                <a:srgbClr val="4D94FF"/>
              </a:buClr>
              <a:buFont typeface="Arial"/>
              <a:buChar char="○"/>
            </a:pPr>
            <a:r>
              <a:rPr sz="1800" b="1">
                <a:solidFill>
                  <a:srgbClr val="F2F4F7"/>
                </a:solidFill>
                <a:latin typeface="Helvetica Neue"/>
              </a:rPr>
              <a:t>Requirements are linked,</a:t>
            </a:r>
            <a:r>
              <a:rPr sz="1800" b="0">
                <a:solidFill>
                  <a:srgbClr val="B4BAC4"/>
                </a:solidFill>
                <a:latin typeface="Helvetica Neue"/>
              </a:rPr>
              <a:t> like the roof of a House of Quality. Example: range vs. agility, via mass.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7 / 8</a:t>
            </a:r>
          </a:p>
        </p:txBody>
      </p:sp>
      <p:sp>
        <p:nvSpPr>
          <p:cNvPr id="4" name="Rectangle 3"/>
          <p:cNvSpPr/>
          <p:nvPr/>
        </p:nvSpPr>
        <p:spPr>
          <a:xfrm>
            <a:off x="0" y="6832600"/>
            <a:ext cx="10668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1440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BUILT FOR TRUST</a:t>
            </a:r>
          </a:p>
        </p:txBody>
      </p:sp>
      <p:sp>
        <p:nvSpPr>
          <p:cNvPr id="6" name="TextBox 5"/>
          <p:cNvSpPr txBox="1"/>
          <p:nvPr/>
        </p:nvSpPr>
        <p:spPr>
          <a:xfrm>
            <a:off x="822960" y="1280160"/>
            <a:ext cx="10546080" cy="1097280"/>
          </a:xfrm>
          <a:prstGeom prst="rect">
            <a:avLst/>
          </a:prstGeom>
          <a:noFill/>
        </p:spPr>
        <p:txBody>
          <a:bodyPr wrap="square" anchor="t" lIns="0" rIns="0" tIns="0" bIns="0">
            <a:spAutoFit/>
          </a:bodyPr>
          <a:lstStyle/>
          <a:p>
            <a:pPr algn="l"/>
            <a:r>
              <a:rPr sz="3400" b="0">
                <a:solidFill>
                  <a:srgbClr val="F2F4F7"/>
                </a:solidFill>
                <a:latin typeface="Helvetica Neue"/>
              </a:rPr>
              <a:t>The AI proposes. The PM decides. Everything is on record.</a:t>
            </a:r>
          </a:p>
        </p:txBody>
      </p:sp>
      <p:sp>
        <p:nvSpPr>
          <p:cNvPr id="7" name="TextBox 6"/>
          <p:cNvSpPr txBox="1"/>
          <p:nvPr/>
        </p:nvSpPr>
        <p:spPr>
          <a:xfrm>
            <a:off x="822960" y="2788920"/>
            <a:ext cx="9491472" cy="1828800"/>
          </a:xfrm>
          <a:prstGeom prst="rect">
            <a:avLst/>
          </a:prstGeom>
          <a:noFill/>
        </p:spPr>
        <p:txBody>
          <a:bodyPr wrap="square" anchor="t" lIns="0" rIns="0" tIns="0" bIns="0">
            <a:spAutoFit/>
          </a:bodyPr>
          <a:lstStyle/>
          <a:p>
            <a:pPr algn="l" marL="292608" indent="-292608">
              <a:spcAft>
                <a:spcPts val="1000"/>
              </a:spcAft>
              <a:buClr>
                <a:srgbClr val="4D94FF"/>
              </a:buClr>
              <a:buFont typeface="Arial"/>
              <a:buChar char="○"/>
            </a:pPr>
            <a:r>
              <a:rPr sz="1800" b="1">
                <a:solidFill>
                  <a:srgbClr val="F2F4F7"/>
                </a:solidFill>
                <a:latin typeface="Helvetica Neue"/>
              </a:rPr>
              <a:t>Every requirement traces back</a:t>
            </a:r>
            <a:r>
              <a:rPr sz="1800" b="0">
                <a:solidFill>
                  <a:srgbClr val="B4BAC4"/>
                </a:solidFill>
                <a:latin typeface="Helvetica Neue"/>
              </a:rPr>
              <a:t> to the evidence behind it.</a:t>
            </a:r>
          </a:p>
          <a:p>
            <a:pPr algn="l" marL="292608" indent="-292608">
              <a:spcAft>
                <a:spcPts val="1000"/>
              </a:spcAft>
              <a:buClr>
                <a:srgbClr val="4D94FF"/>
              </a:buClr>
              <a:buFont typeface="Arial"/>
              <a:buChar char="○"/>
            </a:pPr>
            <a:r>
              <a:rPr sz="1800" b="1">
                <a:solidFill>
                  <a:srgbClr val="F2F4F7"/>
                </a:solidFill>
                <a:latin typeface="Helvetica Neue"/>
              </a:rPr>
              <a:t>Every decision is audited,</a:t>
            </a:r>
            <a:r>
              <a:rPr sz="1800" b="0">
                <a:solidFill>
                  <a:srgbClr val="B4BAC4"/>
                </a:solidFill>
                <a:latin typeface="Helvetica Neue"/>
              </a:rPr>
              <a:t> append-only, with who decided and why.</a:t>
            </a:r>
          </a:p>
          <a:p>
            <a:pPr algn="l" marL="292608" indent="-292608">
              <a:spcAft>
                <a:spcPts val="1000"/>
              </a:spcAft>
              <a:buClr>
                <a:srgbClr val="4D94FF"/>
              </a:buClr>
              <a:buFont typeface="Arial"/>
              <a:buChar char="○"/>
            </a:pPr>
            <a:r>
              <a:rPr sz="1800" b="1">
                <a:solidFill>
                  <a:srgbClr val="F2F4F7"/>
                </a:solidFill>
                <a:latin typeface="Helvetica Neue"/>
              </a:rPr>
              <a:t>Nothing is overwritten:</a:t>
            </a:r>
            <a:r>
              <a:rPr sz="1800" b="0">
                <a:solidFill>
                  <a:srgbClr val="B4BAC4"/>
                </a:solidFill>
                <a:latin typeface="Helvetica Neue"/>
              </a:rPr>
              <a:t> each run is a new version, linked to the one before.</a:t>
            </a:r>
          </a:p>
          <a:p>
            <a:pPr algn="l" marL="292608" indent="-292608">
              <a:spcAft>
                <a:spcPts val="1000"/>
              </a:spcAft>
              <a:buClr>
                <a:srgbClr val="4D94FF"/>
              </a:buClr>
              <a:buFont typeface="Arial"/>
              <a:buChar char="○"/>
            </a:pPr>
            <a:r>
              <a:rPr sz="1800" b="1">
                <a:solidFill>
                  <a:srgbClr val="F2F4F7"/>
                </a:solidFill>
                <a:latin typeface="Helvetica Neue"/>
              </a:rPr>
              <a:t>Every model call is logged</a:t>
            </a:r>
            <a:r>
              <a:rPr sz="1800" b="0">
                <a:solidFill>
                  <a:srgbClr val="B4BAC4"/>
                </a:solidFill>
                <a:latin typeface="Helvetica Neue"/>
              </a:rPr>
              <a:t> by step and 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6400800"/>
            <a:ext cx="10546080" cy="228600"/>
          </a:xfrm>
          <a:prstGeom prst="rect">
            <a:avLst/>
          </a:prstGeom>
          <a:noFill/>
        </p:spPr>
        <p:txBody>
          <a:bodyPr wrap="square" anchor="t" lIns="0" rIns="0" tIns="0" bIns="0">
            <a:spAutoFit/>
          </a:bodyPr>
          <a:lstStyle/>
          <a:p>
            <a:pPr algn="l"/>
            <a:r>
              <a:rPr sz="1000" b="0">
                <a:solidFill>
                  <a:srgbClr val="868D99"/>
                </a:solidFill>
                <a:latin typeface="Helvetica Neue"/>
              </a:rPr>
              <a:t>SharkSight · BMW AI for Product Decision Making · EHL – Grand Finale</a:t>
            </a:r>
          </a:p>
        </p:txBody>
      </p:sp>
      <p:sp>
        <p:nvSpPr>
          <p:cNvPr id="3" name="TextBox 2"/>
          <p:cNvSpPr txBox="1"/>
          <p:nvPr/>
        </p:nvSpPr>
        <p:spPr>
          <a:xfrm>
            <a:off x="822960" y="6400800"/>
            <a:ext cx="10546080" cy="228600"/>
          </a:xfrm>
          <a:prstGeom prst="rect">
            <a:avLst/>
          </a:prstGeom>
          <a:noFill/>
        </p:spPr>
        <p:txBody>
          <a:bodyPr wrap="square" anchor="t" lIns="0" rIns="0" tIns="0" bIns="0">
            <a:spAutoFit/>
          </a:bodyPr>
          <a:lstStyle/>
          <a:p>
            <a:pPr algn="r"/>
            <a:r>
              <a:rPr sz="1000" b="0">
                <a:solidFill>
                  <a:srgbClr val="868D99"/>
                </a:solidFill>
                <a:latin typeface="Helvetica Neue"/>
              </a:rPr>
              <a:t>8 / 8</a:t>
            </a:r>
          </a:p>
        </p:txBody>
      </p:sp>
      <p:sp>
        <p:nvSpPr>
          <p:cNvPr id="4" name="Rectangle 3"/>
          <p:cNvSpPr/>
          <p:nvPr/>
        </p:nvSpPr>
        <p:spPr>
          <a:xfrm>
            <a:off x="0" y="6832600"/>
            <a:ext cx="12192000" cy="25400"/>
          </a:xfrm>
          <a:prstGeom prst="rect">
            <a:avLst/>
          </a:prstGeom>
          <a:solidFill>
            <a:srgbClr val="4D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188720"/>
            <a:ext cx="10546080" cy="274320"/>
          </a:xfrm>
          <a:prstGeom prst="rect">
            <a:avLst/>
          </a:prstGeom>
          <a:noFill/>
        </p:spPr>
        <p:txBody>
          <a:bodyPr wrap="square" anchor="t" lIns="0" rIns="0" tIns="0" bIns="0">
            <a:spAutoFit/>
          </a:bodyPr>
          <a:lstStyle/>
          <a:p>
            <a:pPr algn="l"/>
            <a:r>
              <a:rPr sz="1200" b="1">
                <a:solidFill>
                  <a:srgbClr val="4D94FF"/>
                </a:solidFill>
                <a:latin typeface="Helvetica Neue"/>
              </a:rPr>
              <a:t>THE VISION</a:t>
            </a:r>
          </a:p>
        </p:txBody>
      </p:sp>
      <p:sp>
        <p:nvSpPr>
          <p:cNvPr id="6" name="TextBox 5"/>
          <p:cNvSpPr txBox="1"/>
          <p:nvPr/>
        </p:nvSpPr>
        <p:spPr>
          <a:xfrm>
            <a:off x="822960" y="1554480"/>
            <a:ext cx="10546080" cy="1097280"/>
          </a:xfrm>
          <a:prstGeom prst="rect">
            <a:avLst/>
          </a:prstGeom>
          <a:noFill/>
        </p:spPr>
        <p:txBody>
          <a:bodyPr wrap="square" anchor="t" lIns="0" rIns="0" tIns="0" bIns="0">
            <a:spAutoFit/>
          </a:bodyPr>
          <a:lstStyle/>
          <a:p>
            <a:pPr algn="l"/>
            <a:r>
              <a:rPr sz="3400" b="0">
                <a:solidFill>
                  <a:srgbClr val="F2F4F7"/>
                </a:solidFill>
                <a:latin typeface="Helvetica Neue"/>
              </a:rPr>
              <a:t>A product brain that keeps learning, across every car line and market.</a:t>
            </a:r>
          </a:p>
        </p:txBody>
      </p:sp>
      <p:sp>
        <p:nvSpPr>
          <p:cNvPr id="7" name="TextBox 6"/>
          <p:cNvSpPr txBox="1"/>
          <p:nvPr/>
        </p:nvSpPr>
        <p:spPr>
          <a:xfrm>
            <a:off x="822960" y="3017520"/>
            <a:ext cx="7382255" cy="822960"/>
          </a:xfrm>
          <a:prstGeom prst="rect">
            <a:avLst/>
          </a:prstGeom>
          <a:noFill/>
        </p:spPr>
        <p:txBody>
          <a:bodyPr wrap="square" anchor="t" lIns="0" rIns="0" tIns="0" bIns="0">
            <a:spAutoFit/>
          </a:bodyPr>
          <a:lstStyle/>
          <a:p>
            <a:pPr algn="l"/>
            <a:r>
              <a:rPr sz="2000" b="0">
                <a:solidFill>
                  <a:srgbClr val="B4BAC4"/>
                </a:solidFill>
                <a:latin typeface="Helvetica Neue"/>
              </a:rPr>
              <a:t>Next: prioritization per market, where linked requirements are bundled and conflicts are decided together.</a:t>
            </a:r>
          </a:p>
        </p:txBody>
      </p:sp>
      <p:pic>
        <p:nvPicPr>
          <p:cNvPr id="8" name="Picture 7" descr="logo.png"/>
          <p:cNvPicPr>
            <a:picLocks noChangeAspect="1"/>
          </p:cNvPicPr>
          <p:nvPr/>
        </p:nvPicPr>
        <p:blipFill>
          <a:blip r:embed="rId2"/>
          <a:stretch>
            <a:fillRect/>
          </a:stretch>
        </p:blipFill>
        <p:spPr>
          <a:xfrm>
            <a:off x="731520" y="4069080"/>
            <a:ext cx="685800" cy="685800"/>
          </a:xfrm>
          <a:prstGeom prst="rect">
            <a:avLst/>
          </a:prstGeom>
        </p:spPr>
      </p:pic>
      <p:sp>
        <p:nvSpPr>
          <p:cNvPr id="9" name="TextBox 8"/>
          <p:cNvSpPr txBox="1"/>
          <p:nvPr/>
        </p:nvSpPr>
        <p:spPr>
          <a:xfrm>
            <a:off x="1508760" y="4160520"/>
            <a:ext cx="10546080" cy="548640"/>
          </a:xfrm>
          <a:prstGeom prst="rect">
            <a:avLst/>
          </a:prstGeom>
          <a:noFill/>
        </p:spPr>
        <p:txBody>
          <a:bodyPr wrap="square" anchor="t" lIns="0" rIns="0" tIns="0" bIns="0">
            <a:spAutoFit/>
          </a:bodyPr>
          <a:lstStyle/>
          <a:p>
            <a:pPr algn="l"/>
            <a:r>
              <a:rPr sz="2600" b="0">
                <a:solidFill>
                  <a:srgbClr val="F2F4F7"/>
                </a:solidFill>
                <a:latin typeface="Helvetica Neue Light"/>
              </a:rPr>
              <a:t>SharkSight · Live demo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